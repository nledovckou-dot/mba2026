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АНАЛИЗ РЫНКА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1A237E"/>
                </a:solidFill>
              </a:defRPr>
            </a:pPr>
            <a:r>
              <a:t>Глэмпинг-площадка «RiverPlace»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ОБЩИЙ РЫНОК И ЦИФРЫ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Рост после 2020 года</a:t>
            </a:r>
          </a:p>
          <a:p>
            <a:pPr>
              <a:spcAft>
                <a:spcPts val="600"/>
              </a:spcAft>
              <a:defRPr sz="1400"/>
            </a:pPr>
            <a:r>
              <a:t>• Увеличение коротких поездок (2-3 дня)</a:t>
            </a:r>
          </a:p>
          <a:p>
            <a:pPr>
              <a:spcAft>
                <a:spcPts val="600"/>
              </a:spcAft>
              <a:defRPr sz="1400"/>
            </a:pPr>
            <a:r>
              <a:t>• Смещение к экологичному отдыху</a:t>
            </a:r>
          </a:p>
          <a:p>
            <a:pPr>
              <a:spcAft>
                <a:spcPts val="600"/>
              </a:spcAft>
              <a:defRPr sz="1400"/>
            </a:pPr>
            <a:r>
              <a:t>• Рост спроса на нестандартные форматы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t>2 795 "глэмпинг" (дек 2025 - янв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t>116 348 "отели подмосковье"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t>13 088 "снять дом подмосковье"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С КЕМ КОНКУРИРУЕМ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8229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Happy Tree Camp (110 км от Москвы)</a:t>
            </a:r>
          </a:p>
          <a:p>
            <a:pPr>
              <a:spcAft>
                <a:spcPts val="600"/>
              </a:spcAft>
              <a:defRPr sz="1400"/>
            </a:pPr>
            <a:r>
              <a:t>• Рост числа проектов в МО</a:t>
            </a:r>
          </a:p>
          <a:p>
            <a:pPr>
              <a:spcAft>
                <a:spcPts val="600"/>
              </a:spcAft>
              <a:defRPr sz="1400"/>
            </a:pPr>
            <a:r>
              <a:t>• Схожие форматы и цены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5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Парк-отель "Воздвиженское" (экодома)</a:t>
            </a:r>
          </a:p>
          <a:p>
            <a:pPr>
              <a:spcAft>
                <a:spcPts val="600"/>
              </a:spcAft>
              <a:defRPr sz="1400"/>
            </a:pPr>
            <a:r>
              <a:t>• 116 348 запросов "отели подмосковье"</a:t>
            </a:r>
          </a:p>
          <a:p>
            <a:pPr>
              <a:spcAft>
                <a:spcPts val="600"/>
              </a:spcAft>
              <a:defRPr sz="1400"/>
            </a:pPr>
            <a:r>
              <a:t>• 14 922 запросов "эко отели"</a:t>
            </a:r>
          </a:p>
          <a:p>
            <a:pPr>
              <a:spcAft>
                <a:spcPts val="600"/>
              </a:spcAft>
              <a:defRPr sz="1400"/>
            </a:pPr>
            <a:r>
              <a:t>• 1 148 запросов "отели в лесу"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19"/>
            <a:ext cx="8229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13 088 запросов "снять дом подмосковье"</a:t>
            </a:r>
          </a:p>
          <a:p>
            <a:pPr>
              <a:spcAft>
                <a:spcPts val="600"/>
              </a:spcAft>
              <a:defRPr sz="1400"/>
            </a:pPr>
            <a:r>
              <a:t>• 4 941 запрос "снять дом посуточно"</a:t>
            </a:r>
          </a:p>
          <a:p>
            <a:pPr>
              <a:spcAft>
                <a:spcPts val="600"/>
              </a:spcAft>
              <a:defRPr sz="1400"/>
            </a:pPr>
            <a:r>
              <a:t>• 2 431 запрос "снять дом с баней"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58"/>
            <a:ext cx="8229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Традиционные базы отдыха</a:t>
            </a:r>
          </a:p>
          <a:p>
            <a:pPr>
              <a:spcAft>
                <a:spcPts val="600"/>
              </a:spcAft>
              <a:defRPr sz="1400"/>
            </a:pPr>
            <a:r>
              <a:t>• Загородные комплексы с инфраструктурой</a:t>
            </a:r>
          </a:p>
          <a:p>
            <a:pPr>
              <a:spcAft>
                <a:spcPts val="600"/>
              </a:spcAft>
              <a:defRPr sz="1400"/>
            </a:pPr>
            <a:r>
              <a:t>• Санатории и пансионаты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АНАЛИЗ УТП КОНКУРЕНТОВ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Близость к Москве (100-110 км)</a:t>
            </a:r>
          </a:p>
          <a:p>
            <a:pPr>
              <a:spcAft>
                <a:spcPts val="600"/>
              </a:spcAft>
              <a:defRPr sz="1400"/>
            </a:pPr>
            <a:r>
              <a:t>• Природное окружение (лес, река, озеро)</a:t>
            </a:r>
          </a:p>
          <a:p>
            <a:pPr>
              <a:spcAft>
                <a:spcPts val="600"/>
              </a:spcAft>
              <a:defRPr sz="1400"/>
            </a:pPr>
            <a:r>
              <a:t>• Комфортное размещение</a:t>
            </a:r>
          </a:p>
          <a:p>
            <a:pPr>
              <a:spcAft>
                <a:spcPts val="600"/>
              </a:spcAft>
              <a:defRPr sz="1400"/>
            </a:pPr>
            <a:r>
              <a:t>• Активные развлечения</a:t>
            </a:r>
          </a:p>
          <a:p>
            <a:pPr>
              <a:spcAft>
                <a:spcPts val="600"/>
              </a:spcAft>
              <a:defRPr sz="1400"/>
            </a:pPr>
            <a:r>
              <a:t>• Семейная инфраструктура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Высокая сезонность</a:t>
            </a:r>
          </a:p>
          <a:p>
            <a:pPr>
              <a:spcAft>
                <a:spcPts val="600"/>
              </a:spcAft>
              <a:defRPr sz="1400"/>
            </a:pPr>
            <a:r>
              <a:t>• Нет специализированных программ</a:t>
            </a:r>
          </a:p>
          <a:p>
            <a:pPr>
              <a:spcAft>
                <a:spcPts val="600"/>
              </a:spcAft>
              <a:defRPr sz="1400"/>
            </a:pPr>
            <a:r>
              <a:t>• Фокус только на выходные</a:t>
            </a:r>
          </a:p>
          <a:p>
            <a:pPr>
              <a:spcAft>
                <a:spcPts val="600"/>
              </a:spcAft>
              <a:defRPr sz="1400"/>
            </a:pPr>
            <a:r>
              <a:t>• Стандартный набор услуг</a:t>
            </a:r>
          </a:p>
          <a:p>
            <a:pPr>
              <a:spcAft>
                <a:spcPts val="600"/>
              </a:spcAft>
              <a:defRPr sz="1400"/>
            </a:pPr>
            <a:r>
              <a:t>• Нет работы с нишевыми сегментами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t>🏕️ Happy Tree Camp Цена: 8 000 - 15 000 руб./ночь Домики A-Frame с камином Панорамные окна Широкий спектр активностей Водные активности (сап, каяк) Семейный отдых Банный комплекс УТП: Активный отдых 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КОЛЛАБОРАЦИИ И ПАРТНЕРСТВА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МХАТ, ГИТИС, частные студии</a:t>
            </a:r>
          </a:p>
          <a:p>
            <a:pPr>
              <a:spcAft>
                <a:spcPts val="600"/>
              </a:spcAft>
              <a:defRPr sz="1400"/>
            </a:pPr>
            <a:r>
              <a:t>• Выездные лагеря для взрослых</a:t>
            </a:r>
          </a:p>
          <a:p>
            <a:pPr>
              <a:spcAft>
                <a:spcPts val="600"/>
              </a:spcAft>
              <a:defRPr sz="1400"/>
            </a:pPr>
            <a:r>
              <a:t>• Программы 3-7 дней, 20-50 тыс. руб.</a:t>
            </a:r>
          </a:p>
          <a:p>
            <a:pPr>
              <a:spcAft>
                <a:spcPts val="600"/>
              </a:spcAft>
              <a:defRPr sz="1400"/>
            </a:pPr>
            <a:r>
              <a:t>• Снижение сезонности, будние дни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Сколково, РСПП, региональные клубы</a:t>
            </a:r>
          </a:p>
          <a:p>
            <a:pPr>
              <a:spcAft>
                <a:spcPts val="600"/>
              </a:spcAft>
              <a:defRPr sz="1400"/>
            </a:pPr>
            <a:r>
              <a:t>• Корпоративные мероприятия</a:t>
            </a:r>
          </a:p>
          <a:p>
            <a:pPr>
              <a:spcAft>
                <a:spcPts val="600"/>
              </a:spcAft>
              <a:defRPr sz="1400"/>
            </a:pPr>
            <a:r>
              <a:t>• 5-15 тыс. руб./чел./день</a:t>
            </a:r>
          </a:p>
          <a:p>
            <a:pPr>
              <a:spcAft>
                <a:spcPts val="600"/>
              </a:spcAft>
              <a:defRPr sz="1400"/>
            </a:pPr>
            <a:r>
              <a:t>• Круглогодичная загрузка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Рыболовные сообщества и клубы</a:t>
            </a:r>
          </a:p>
          <a:p>
            <a:pPr>
              <a:spcAft>
                <a:spcPts val="600"/>
              </a:spcAft>
              <a:defRPr sz="1400"/>
            </a:pPr>
            <a:r>
              <a:t>• Туры, соревнования, фестивали</a:t>
            </a:r>
          </a:p>
          <a:p>
            <a:pPr>
              <a:spcAft>
                <a:spcPts val="600"/>
              </a:spcAft>
              <a:defRPr sz="1400"/>
            </a:pPr>
            <a:r>
              <a:t>• Активный сезон: апрель-октябрь</a:t>
            </a:r>
          </a:p>
          <a:p>
            <a:pPr>
              <a:spcAft>
                <a:spcPts val="600"/>
              </a:spcAft>
              <a:defRPr sz="1400"/>
            </a:pPr>
            <a:r>
              <a:t>• Межсезонная загрузка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КЛЮЧЕВЫЕ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t>Низкая осведомленность: Прямой спрос на глэмпинги ограничен (2 795 запросов), потребители ищут "отели" (116 348) и "дома" (13 088)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t>Скрытая конкуренция: Конкурируем не только с глэмпингами, но и с отелями, арендой домов, базами отдыха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t>Сезонность: 90% дохода на 30% дней в году — критическая проблема отрасли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